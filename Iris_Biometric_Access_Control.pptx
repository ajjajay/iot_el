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5486400" cy="5486400"/>
          </a:xfrm>
          <a:prstGeom prst="ellipse">
            <a:avLst/>
          </a:prstGeom>
          <a:solidFill>
            <a:srgbClr val="7C5C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5D0B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044952" cy="310896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00" b="1">
                <a:solidFill>
                  <a:srgbClr val="0B0F1A"/>
                </a:solidFill>
                <a:latin typeface="Segoe UI Semibold"/>
              </a:rPr>
              <a:t>  IoT · EDGE AI · BIOMETRICS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2F5FA"/>
                </a:solidFill>
                <a:latin typeface="Segoe UI Semibold"/>
              </a:rPr>
              <a:t>Iris Biometric</a:t>
            </a:r>
          </a:p>
          <a:p>
            <a:pPr algn="l"/>
            <a:r>
              <a:rPr sz="6000" b="1">
                <a:solidFill>
                  <a:srgbClr val="35D0BA"/>
                </a:solidFill>
                <a:latin typeface="Segoe UI Semibold"/>
              </a:rPr>
              <a:t>Access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9AA6BF"/>
                </a:solidFill>
                <a:latin typeface="Segoe UI"/>
              </a:rPr>
              <a:t>A production-grade edge-to-cloud security platform — on-device iris matching, anomaly detection, and an AI agent alert loop across ESP32, Firebase &amp; AWS.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8640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73152" cy="96012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ESP32-CAM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Edge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548640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5486400"/>
            <a:ext cx="73152" cy="96012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5596128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TinyML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Ambient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48640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5486400"/>
            <a:ext cx="73152" cy="96012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596128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AWS Bedrock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AI alert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548640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6840" y="5486400"/>
            <a:ext cx="73152" cy="96012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5596128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Firebase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Realtime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Three layers, one secure access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42976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00" b="1">
                <a:solidFill>
                  <a:srgbClr val="0B0F1A"/>
                </a:solidFill>
                <a:latin typeface="Segoe UI Semibold"/>
              </a:rPr>
              <a:t> EDGE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5FA"/>
                </a:solidFill>
                <a:latin typeface="Segoe UI Semibold"/>
              </a:rPr>
              <a:t>ESP32-CAM 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3063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Captures iris → 64-element descriptor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On-device matching vs SPIFFS templates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Sliding-window anomaly scorer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Relay / LED actuation + TinyML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173736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19" y="1737360"/>
            <a:ext cx="73152" cy="429768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39" y="1965960"/>
            <a:ext cx="836676" cy="310896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00" b="1">
                <a:solidFill>
                  <a:srgbClr val="0B0F1A"/>
                </a:solidFill>
                <a:latin typeface="Segoe UI Semibold"/>
              </a:rPr>
              <a:t> CLOUD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4231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5FA"/>
                </a:solidFill>
                <a:latin typeface="Segoe UI Semibold"/>
              </a:rPr>
              <a:t>Firebase + 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063240"/>
            <a:ext cx="3063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Firebase RTDB: state, sign-ins, users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AWS IoT Core routes alerts via Rules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Lambda → Bedrock Agent → SNS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ACK published back to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8" y="1737360"/>
            <a:ext cx="3566160" cy="4297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58" y="1737360"/>
            <a:ext cx="73152" cy="429768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78" y="196596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00" b="1">
                <a:solidFill>
                  <a:srgbClr val="0B0F1A"/>
                </a:solidFill>
                <a:latin typeface="Segoe UI Semibold"/>
              </a:rPr>
              <a:t> FRONTEND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24231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5FA"/>
                </a:solidFill>
                <a:latin typeface="Segoe UI Semibold"/>
              </a:rPr>
              <a:t>Web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3063240"/>
            <a:ext cx="3063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Live sign-in logs &amp; enrolled users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Security alerts + ambient charts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Enrollment command panel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Segoe UI"/>
              </a:rPr>
              <a:t>›  Manual relay override (5-min expiry)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WHY IRIS?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What you actually get out of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73152" cy="13258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29384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F2F5FA"/>
                </a:solidFill>
                <a:latin typeface="Segoe UI Semibold"/>
              </a:rPr>
              <a:t>Privacy by design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Your iris template never leaves the device. There's no central face database in the cloud to be breached, sold, or subpoenaed.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73152" cy="132588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929384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F2F5FA"/>
                </a:solidFill>
                <a:latin typeface="Segoe UI Semibold"/>
              </a:rPr>
              <a:t>You're never locked out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Recognition fails? Fall back to a PIN on the keypad, then a one-time QR code emailed to an authorised person's 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73552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273552"/>
            <a:ext cx="73152" cy="132588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419856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F2F5FA"/>
                </a:solidFill>
                <a:latin typeface="Segoe UI Semibold"/>
              </a:rPr>
              <a:t>It sees attacks, not just logins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Spoof attempts and brute-force are flagged in real time with an anomaly score — a replayed photo lights up at 100%.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73552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273552"/>
            <a:ext cx="73152" cy="1325880"/>
          </a:xfrm>
          <a:prstGeom prst="round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419856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F2F5FA"/>
                </a:solidFill>
                <a:latin typeface="Segoe UI Semibold"/>
              </a:rPr>
              <a:t>AI triages the noise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A Bedrock agent decides which anomalies are worth a human's attention and notifies you — instead of 50 raw alerts a 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64024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764024"/>
            <a:ext cx="73152" cy="13258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910328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F2F5FA"/>
                </a:solidFill>
                <a:latin typeface="Segoe UI Semibold"/>
              </a:rPr>
              <a:t>Cheap, off-the-shelf hardware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Built on a ~$10 ESP32-CAM and common modules — not a proprietary $500 reader locked to one vendor.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64024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4764024"/>
            <a:ext cx="73152" cy="132588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4910328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F2F5FA"/>
                </a:solidFill>
                <a:latin typeface="Segoe UI Semibold"/>
              </a:rPr>
              <a:t>Every attempt is on the record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Full audit trail: who, when, match score, deny reason, and anomaly % — exportable and searchable from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One door, three ways in — no one gets stranded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73152" cy="237744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A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060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Look at the camera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Iris is matched on-device in under a second. Score below 0.30 → door unlocks, logged as ✓ Granted.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78308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19" y="1783080"/>
            <a:ext cx="73152" cy="237744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39" y="2011680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A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6060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Lighting bad? Use your PIN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Press * on the keypad and enter a 4-digit code to unlock the access panel — a built-in second factor.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178308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8" y="1783080"/>
            <a:ext cx="73152" cy="237744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8" y="2011680"/>
            <a:ext cx="457200" cy="457200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A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6" y="26060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Visitor or emergency? QR code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Generate a one-time QR code, emailed to an authorised recipient. They show it on their phone; the camera scans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73152" cy="1691640"/>
          </a:xfrm>
          <a:prstGeom prst="round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85C"/>
                </a:solidFill>
                <a:latin typeface="Segoe UI Semibold"/>
              </a:rPr>
              <a:t>BUILT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2F5FA"/>
                </a:solidFill>
                <a:latin typeface="Segoe UI Semibold"/>
              </a:rPr>
              <a:t>Offices &amp; co-working</a:t>
            </a:r>
          </a:p>
          <a:p>
            <a:pPr algn="l"/>
            <a:r>
              <a:rPr sz="1150" b="0">
                <a:solidFill>
                  <a:srgbClr val="9AA6BF"/>
                </a:solidFill>
                <a:latin typeface="Segoe UI"/>
              </a:rPr>
              <a:t>Front-door access without badges to 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5029200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2F5FA"/>
                </a:solidFill>
                <a:latin typeface="Segoe UI Semibold"/>
              </a:rPr>
              <a:t>Labs &amp; server rooms</a:t>
            </a:r>
          </a:p>
          <a:p>
            <a:pPr algn="l"/>
            <a:r>
              <a:rPr sz="1150" b="0">
                <a:solidFill>
                  <a:srgbClr val="9AA6BF"/>
                </a:solidFill>
                <a:latin typeface="Segoe UI"/>
              </a:rPr>
              <a:t>High-security zones with full audit trails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5029200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2F5FA"/>
                </a:solidFill>
                <a:latin typeface="Segoe UI Semibold"/>
              </a:rPr>
              <a:t>Small business / home</a:t>
            </a:r>
          </a:p>
          <a:p>
            <a:pPr algn="l"/>
            <a:r>
              <a:rPr sz="1150" b="0">
                <a:solidFill>
                  <a:srgbClr val="9AA6BF"/>
                </a:solidFill>
                <a:latin typeface="Segoe UI"/>
              </a:rPr>
              <a:t>Affordable smart-lock with attack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5029200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2F5FA"/>
                </a:solidFill>
                <a:latin typeface="Segoe UI Semibold"/>
              </a:rPr>
              <a:t>Multi-site fleets</a:t>
            </a:r>
          </a:p>
          <a:p>
            <a:pPr algn="l"/>
            <a:r>
              <a:rPr sz="1150" b="0">
                <a:solidFill>
                  <a:srgbClr val="9AA6BF"/>
                </a:solidFill>
                <a:latin typeface="Segoe UI"/>
              </a:rPr>
              <a:t>Same hardware, central dashboard, auto-discovery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Edge-to-cloud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468880" cy="12801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73152" cy="128016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2148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ESP32-CAM Node</a:t>
            </a:r>
          </a:p>
          <a:p>
            <a:pPr algn="l"/>
            <a:r>
              <a:rPr sz="1100" b="0">
                <a:solidFill>
                  <a:srgbClr val="9AA6BF"/>
                </a:solidFill>
                <a:latin typeface="Segoe UI"/>
              </a:rPr>
              <a:t>Iris capture · matching · anomaly · TinyML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2514600"/>
            <a:ext cx="822960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13055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AA6BF"/>
                </a:solidFill>
                <a:latin typeface="Segoe UI"/>
              </a:rPr>
              <a:t>HTTPS / MQTT-TLS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371600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1371600"/>
            <a:ext cx="73152" cy="114300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81328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Firebase RTDB</a:t>
            </a:r>
          </a:p>
          <a:p>
            <a:pPr algn="l"/>
            <a:r>
              <a:rPr sz="1100" b="0">
                <a:solidFill>
                  <a:srgbClr val="9AA6BF"/>
                </a:solidFill>
                <a:latin typeface="Segoe UI"/>
              </a:rPr>
              <a:t>devices · signins · users ·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834640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60520" y="2834640"/>
            <a:ext cx="73152" cy="11430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944368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AWS IoT Core</a:t>
            </a:r>
          </a:p>
          <a:p>
            <a:pPr algn="l"/>
            <a:r>
              <a:rPr sz="1100" b="0">
                <a:solidFill>
                  <a:srgbClr val="9AA6BF"/>
                </a:solidFill>
                <a:latin typeface="Segoe UI"/>
              </a:rPr>
              <a:t>Rules → Lambda → Bedrock Agent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03720" y="3246120"/>
            <a:ext cx="822960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86207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AA6BF"/>
                </a:solidFill>
                <a:latin typeface="Segoe UI"/>
              </a:rPr>
              <a:t>SNS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83464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2834640"/>
            <a:ext cx="73152" cy="1143000"/>
          </a:xfrm>
          <a:prstGeom prst="round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944368"/>
            <a:ext cx="2057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User Notification</a:t>
            </a:r>
          </a:p>
          <a:p>
            <a:pPr algn="l"/>
            <a:r>
              <a:rPr sz="1100" b="0">
                <a:solidFill>
                  <a:srgbClr val="9AA6BF"/>
                </a:solidFill>
                <a:latin typeface="Segoe UI"/>
              </a:rPr>
              <a:t>+ ACK back to device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212080" y="2606040"/>
            <a:ext cx="0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60520" y="4572000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0520" y="4572000"/>
            <a:ext cx="73152" cy="114300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681728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Web Dashboard</a:t>
            </a:r>
          </a:p>
          <a:p>
            <a:pPr algn="l"/>
            <a:r>
              <a:rPr sz="1100" b="0">
                <a:solidFill>
                  <a:srgbClr val="9AA6BF"/>
                </a:solidFill>
                <a:latin typeface="Segoe UI"/>
              </a:rPr>
              <a:t>logs · alerts · charts · controls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2514600"/>
            <a:ext cx="38100" cy="365760"/>
          </a:xfrm>
          <a:prstGeom prst="rect">
            <a:avLst/>
          </a:prstGeom>
          <a:solidFill>
            <a:srgbClr val="9A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40680" y="3977639"/>
            <a:ext cx="38100" cy="594360"/>
          </a:xfrm>
          <a:prstGeom prst="rect">
            <a:avLst/>
          </a:prstGeom>
          <a:solidFill>
            <a:srgbClr val="9A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463040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6B9D"/>
                </a:solidFill>
                <a:latin typeface="Segoe UI Semibold"/>
              </a:rPr>
              <a:t>TOPICS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6BF"/>
                </a:solidFill>
                <a:latin typeface="Consolas"/>
              </a:rPr>
              <a:t>iot/{thing}/biometric/signin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6BF"/>
                </a:solidFill>
                <a:latin typeface="Consolas"/>
              </a:rPr>
              <a:t>iot/{thing}/biometric/alert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Consolas"/>
              </a:rPr>
              <a:t>iot/{thing}/ai/alerts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BIOMETRIC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From photons to a pass / fail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766560" cy="9601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73152" cy="96012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075688"/>
            <a:ext cx="457200" cy="4572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A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38528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Segoe UI Semibold"/>
              </a:rPr>
              <a:t>Capture</a:t>
            </a:r>
          </a:p>
          <a:p>
            <a:pPr algn="l"/>
            <a:r>
              <a:rPr sz="1300" b="0">
                <a:solidFill>
                  <a:srgbClr val="9AA6BF"/>
                </a:solidFill>
                <a:latin typeface="Segoe UI"/>
              </a:rPr>
              <a:t>OV2640 grayscale frame, 160×120, JPEG-decoded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6766560" cy="9601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73152" cy="9601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A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35808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Segoe UI Semibold"/>
              </a:rPr>
              <a:t>Extract</a:t>
            </a:r>
          </a:p>
          <a:p>
            <a:pPr algn="l"/>
            <a:r>
              <a:rPr sz="1300" b="0">
                <a:solidFill>
                  <a:srgbClr val="9AA6BF"/>
                </a:solidFill>
                <a:latin typeface="Segoe UI"/>
              </a:rPr>
              <a:t>8×8 zonal grid → mean intensity → float[64]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6766560" cy="9601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73152" cy="96012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270248"/>
            <a:ext cx="457200" cy="457200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A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33088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Segoe UI Semibold"/>
              </a:rPr>
              <a:t>Match</a:t>
            </a:r>
          </a:p>
          <a:p>
            <a:pPr algn="l"/>
            <a:r>
              <a:rPr sz="1300" b="0">
                <a:solidFill>
                  <a:srgbClr val="9AA6BF"/>
                </a:solidFill>
                <a:latin typeface="Segoe UI"/>
              </a:rPr>
              <a:t>Normalised RMS distance vs ≤5 templates/user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20640"/>
            <a:ext cx="6766560" cy="9601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73152" cy="960120"/>
          </a:xfrm>
          <a:prstGeom prst="round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5367528"/>
            <a:ext cx="457200" cy="457200"/>
          </a:xfrm>
          <a:prstGeom prst="ellipse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A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30368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Segoe UI Semibold"/>
              </a:rPr>
              <a:t>Decide</a:t>
            </a:r>
          </a:p>
          <a:p>
            <a:pPr algn="l"/>
            <a:r>
              <a:rPr sz="1300" b="0">
                <a:solidFill>
                  <a:srgbClr val="9AA6BF"/>
                </a:solidFill>
                <a:latin typeface="Segoe UI"/>
              </a:rPr>
              <a:t>score &lt; 0.30 → PASS · else REJECTED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828800"/>
            <a:ext cx="3840480" cy="40690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80960" y="1828800"/>
            <a:ext cx="73152" cy="40690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057400"/>
            <a:ext cx="3383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35D0BA"/>
                </a:solidFill>
                <a:latin typeface="Segoe UI Semibold"/>
              </a:rPr>
              <a:t>WHY 8×8 ZONAL?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2F5FA"/>
                </a:solidFill>
                <a:latin typeface="Segoe UI"/>
              </a:rPr>
              <a:t>Zero external dependencies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2F5FA"/>
                </a:solidFill>
                <a:latin typeface="Segoe UI"/>
              </a:rPr>
              <a:t>Fits on-chip SRAM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F2F5FA"/>
                </a:solidFill>
                <a:latin typeface="Segoe UI"/>
              </a:rPr>
              <a:t>No segmentation needed</a:t>
            </a:r>
          </a:p>
          <a:p>
            <a:pPr algn="l"/>
            <a:r>
              <a:rPr sz="1300" b="0">
                <a:solidFill>
                  <a:srgbClr val="9AA6BF"/>
                </a:solidFill>
                <a:latin typeface="Segoe UI"/>
              </a:rPr>
              <a:t>Production path: Gabor wavelets or a CNN embedding (AWS Rekognition).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Catching brute-force &amp; spoofing in real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73152" cy="128016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2F5FA"/>
                </a:solidFill>
                <a:latin typeface="Consolas"/>
              </a:rPr>
              <a:t>score = 0.40 × failure_rate  +  0.35 × score_proximity  +  0.25 × frequency_spike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73152" cy="237744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35D0BA"/>
                </a:solidFill>
                <a:latin typeface="Segoe UI Semibold"/>
              </a:rPr>
              <a:t>0.40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2F5FA"/>
                </a:solidFill>
                <a:latin typeface="Consolas"/>
              </a:rPr>
              <a:t>failure_rate</a:t>
            </a:r>
          </a:p>
          <a:p>
            <a:pPr algn="l"/>
            <a:r>
              <a:rPr sz="1300" b="0">
                <a:solidFill>
                  <a:srgbClr val="9AA6BF"/>
                </a:solidFill>
                <a:latin typeface="Segoe UI"/>
              </a:rPr>
              <a:t>Fraction of failed attempts in the 20-event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38328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3383280"/>
            <a:ext cx="73152" cy="237744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361188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7C5CFF"/>
                </a:solidFill>
                <a:latin typeface="Segoe UI Semibold"/>
              </a:rPr>
              <a:t>0.35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2F5FA"/>
                </a:solidFill>
                <a:latin typeface="Consolas"/>
              </a:rPr>
              <a:t>score_proximity</a:t>
            </a:r>
          </a:p>
          <a:p>
            <a:pPr algn="l"/>
            <a:r>
              <a:rPr sz="1300" b="0">
                <a:solidFill>
                  <a:srgbClr val="9AA6BF"/>
                </a:solidFill>
                <a:latin typeface="Segoe UI"/>
              </a:rPr>
              <a:t>A match just below threshold ⇒ likely partial replay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38328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3383280"/>
            <a:ext cx="73152" cy="237744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361188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6B9D"/>
                </a:solidFill>
                <a:latin typeface="Segoe UI Semibold"/>
              </a:rPr>
              <a:t>0.25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2F5FA"/>
                </a:solidFill>
                <a:latin typeface="Consolas"/>
              </a:rPr>
              <a:t>frequency_spike</a:t>
            </a:r>
          </a:p>
          <a:p>
            <a:pPr algn="l"/>
            <a:r>
              <a:rPr sz="1300" b="0">
                <a:solidFill>
                  <a:srgbClr val="9AA6BF"/>
                </a:solidFill>
                <a:latin typeface="Segoe UI"/>
              </a:rPr>
              <a:t>&gt; 5 events in 60 s →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AA6BF"/>
                </a:solidFill>
                <a:latin typeface="Segoe UI"/>
              </a:rPr>
              <a:t>Exceed anomalyScoreThreshold (0.60) → AlertManager fires to AWS IoT + Firebase, with 30 s duplicate suppression.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5CFF"/>
                </a:solidFill>
                <a:latin typeface="Segoe UI Semibold"/>
              </a:rPr>
              <a:t>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See every sign-in and threat,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9928"/>
            <a:ext cx="5495544" cy="3044923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9050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349240" cy="28986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91427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9AA6BF"/>
                </a:solidFill>
                <a:latin typeface="Segoe UI"/>
              </a:rPr>
              <a:t>Auth &amp; QR fallback — authenticate, or issue a one-time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09928"/>
            <a:ext cx="5495544" cy="3024863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905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349240" cy="28785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4771367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9AA6BF"/>
                </a:solidFill>
                <a:latin typeface="Segoe UI"/>
              </a:rPr>
              <a:t>Security alerts — spoof attempts flagged at 100%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9AA6BF"/>
                </a:solidFill>
                <a:latin typeface="Segoe UI"/>
              </a:rPr>
              <a:t>Spoof attempts, brute-force and granted/denied results stream in real time — each row carries match score, deny reason and an anomaly percentage.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FIRMWARE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Ten states, one legal transition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73152" cy="868680"/>
          </a:xfrm>
          <a:prstGeom prst="roundRect">
            <a:avLst/>
          </a:prstGeom>
          <a:solidFill>
            <a:srgbClr val="9A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INIT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874519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0712" y="1874519"/>
            <a:ext cx="73152" cy="868680"/>
          </a:xfrm>
          <a:prstGeom prst="roundRect">
            <a:avLst/>
          </a:prstGeom>
          <a:solidFill>
            <a:srgbClr val="9A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874519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CONNECTING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74519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1874519"/>
            <a:ext cx="73152" cy="8686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74519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874519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51976" y="1874519"/>
            <a:ext cx="73152" cy="8686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874519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MONITORING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07791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2907791"/>
            <a:ext cx="73152" cy="86868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907791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ENROLLING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0712" y="2907791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10712" y="2907791"/>
            <a:ext cx="73152" cy="86868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907791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AUTHENTICATING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2907791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344" y="2907791"/>
            <a:ext cx="73152" cy="8686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2907791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AUTHENTICATED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2907791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51976" y="2907791"/>
            <a:ext cx="73152" cy="86868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2907791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REJECTED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41063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3941063"/>
            <a:ext cx="73152" cy="86868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941063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ALERT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10712" y="3941063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10712" y="3941063"/>
            <a:ext cx="73152" cy="868680"/>
          </a:xfrm>
          <a:prstGeom prst="round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3941063"/>
            <a:ext cx="2240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Consolas"/>
              </a:rPr>
              <a:t>ERROR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" y="5349240"/>
            <a:ext cx="73152" cy="105156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332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</a:p>
        </p:txBody>
      </p:sp>
      <p:sp>
        <p:nvSpPr>
          <p:cNvPr id="40" name="TextBox 39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AA6BF"/>
                </a:solidFill>
                <a:latin typeface="Segoe UI"/>
              </a:rPr>
              <a:t>AUTHENTICATED → relay ON, LED solid.   REJECTED → 3 fast flashes.   ALERT → relay ON + fast blink.   ERROR → SOS, then restart.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TINYML — AMBIENT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A second pair of eyes on the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73152" cy="39319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7C5CFF"/>
                </a:solidFill>
                <a:latin typeface="Segoe UI Semibold"/>
              </a:rPr>
              <a:t>MODEL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2F5FA"/>
                </a:solidFill>
                <a:latin typeface="Consolas"/>
              </a:rPr>
              <a:t>Input(3) → Dense(16) → Dense(8) → Softmax(3)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6BF"/>
                </a:solidFill>
                <a:latin typeface="Segoe UI"/>
              </a:rPr>
              <a:t>~700 parameters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6BF"/>
                </a:solidFill>
                <a:latin typeface="Segoe UI"/>
              </a:rPr>
              <a:t>~4.2 KB TFLite model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9AA6BF"/>
                </a:solidFill>
                <a:latin typeface="Segoe UI"/>
              </a:rPr>
              <a:t>~8 KB tensor arena on ESP32</a:t>
            </a:r>
          </a:p>
          <a:p>
            <a:pPr algn="l"/>
            <a:r>
              <a:rPr sz="1400" b="0">
                <a:solidFill>
                  <a:srgbClr val="F2F5FA"/>
                </a:solidFill>
                <a:latin typeface="Segoe UI"/>
              </a:rPr>
              <a:t>Inputs: temperature · humidity · light</a:t>
            </a:r>
          </a:p>
          <a:p>
            <a:pPr algn="l"/>
            <a:r>
              <a:rPr sz="1400" b="0">
                <a:solidFill>
                  <a:srgbClr val="F2F5FA"/>
                </a:solidFill>
                <a:latin typeface="Segoe UI"/>
              </a:rPr>
              <a:t>Output: normal / warning / 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73152" cy="393192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35D0BA"/>
                </a:solidFill>
                <a:latin typeface="Segoe UI Semibold"/>
              </a:rPr>
              <a:t>TRAINING PIPELINE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Consolas"/>
              </a:rPr>
              <a:t>mock_data_generator.py  →  5000 samples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Consolas"/>
              </a:rPr>
              <a:t>model_training.py  →  Keras → TFLite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9AA6BF"/>
                </a:solidFill>
                <a:latin typeface="Consolas"/>
              </a:rPr>
              <a:t>model_converter.py  →  C hex array</a:t>
            </a:r>
          </a:p>
          <a:p>
            <a:pPr algn="l">
              <a:spcAft>
                <a:spcPts val="1600"/>
              </a:spcAft>
            </a:pPr>
            <a:r>
              <a:rPr sz="1350" b="0">
                <a:solidFill>
                  <a:srgbClr val="9AA6BF"/>
                </a:solidFill>
                <a:latin typeface="Consolas"/>
              </a:rPr>
              <a:t>firmware  →  GetModel() → Invoke()</a:t>
            </a:r>
          </a:p>
          <a:p>
            <a:pPr algn="l"/>
            <a:r>
              <a:rPr sz="1350" b="0">
                <a:solidFill>
                  <a:srgbClr val="F2F5FA"/>
                </a:solidFill>
                <a:latin typeface="Segoe UI"/>
              </a:rPr>
              <a:t>riskScore ≥ mlRiskThreshold triggers an ALERT state — secondary to biometrics, runs in the background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85C"/>
                </a:solidFill>
                <a:latin typeface="Segoe UI Semibold"/>
              </a:rPr>
              <a:t>THE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Off-the-shelf parts, one custom enclosure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9928"/>
            <a:ext cx="6181344" cy="4065308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9050">
            <a:solidFill>
              <a:srgbClr val="FFC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035040" cy="39190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1181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9AA6BF"/>
                </a:solidFill>
                <a:latin typeface="Segoe UI"/>
              </a:rPr>
              <a:t>Prototype node — keypad, LCD, gas &amp; DHT sensors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828800"/>
            <a:ext cx="4572000" cy="8229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95160" y="1828800"/>
            <a:ext cx="73152" cy="82296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82880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ESP32-CAM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Brains + iris camera, on-device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724912"/>
            <a:ext cx="4572000" cy="8229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5160" y="2724912"/>
            <a:ext cx="73152" cy="82296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724912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4×4 keypad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PIN entry &amp; QR-panel unlock (press *)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3621024"/>
            <a:ext cx="4572000" cy="8229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95160" y="3621024"/>
            <a:ext cx="73152" cy="82296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621024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16×2 LCD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Live status: state, prompts,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4517136"/>
            <a:ext cx="4572000" cy="8229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95160" y="4517136"/>
            <a:ext cx="73152" cy="822960"/>
          </a:xfrm>
          <a:prstGeom prst="round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4517136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DHT + gas sensor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Feeds the ambient TinyML risk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5413248"/>
            <a:ext cx="4572000" cy="8229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95160" y="5413248"/>
            <a:ext cx="73152" cy="82296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5413248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2F5FA"/>
                </a:solidFill>
                <a:latin typeface="Segoe UI Semibold"/>
              </a:rPr>
              <a:t>Relay (door lock)</a:t>
            </a:r>
          </a:p>
          <a:p>
            <a:pPr algn="l"/>
            <a:r>
              <a:rPr sz="1200" b="0">
                <a:solidFill>
                  <a:srgbClr val="9AA6BF"/>
                </a:solidFill>
                <a:latin typeface="Segoe UI"/>
              </a:rPr>
              <a:t>Driven by the auth result, 5-min override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5FA"/>
                </a:solidFill>
                <a:latin typeface="Segoe UI Semibold"/>
              </a:rPr>
              <a:t>From 2 to 20+ devices — no schema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73152" cy="123444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92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Single binary, per-device config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Flash the same firmware; only config.json in SPIFFS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73152" cy="123444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892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Auto-discovery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Dashboard's onValue('/devices') listener picks up new nodes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73152" cy="123444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4892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Read-cost control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Per-device listeners + .limitToLast(50) on sign-ins.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461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246120"/>
            <a:ext cx="73152" cy="1234440"/>
          </a:xfrm>
          <a:prstGeom prst="round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83280"/>
            <a:ext cx="4892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Template backup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Optional blob upload to Firebase Storage; restore after SPIFFS format.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6344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663440"/>
            <a:ext cx="73152" cy="123444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4892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OTA updates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ArduinoOTA via /devices/{id}/commands/otaUrl — templates survive.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66344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4663440"/>
            <a:ext cx="73152" cy="123444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800600"/>
            <a:ext cx="4892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Segoe UI Semibold"/>
              </a:rPr>
              <a:t>Cloud Functions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Server-side aggregation offloads logic from devices.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200400"/>
            <a:ext cx="5486400" cy="5486400"/>
          </a:xfrm>
          <a:prstGeom prst="ellipse">
            <a:avLst/>
          </a:prstGeom>
          <a:solidFill>
            <a:srgbClr val="7C5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BA"/>
                </a:solidFill>
                <a:latin typeface="Segoe UI Semibold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AA6BF"/>
                </a:solidFill>
                <a:latin typeface="Segoe U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4572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2F5FA"/>
                </a:solidFill>
                <a:latin typeface="Segoe UI Semibold"/>
              </a:rPr>
              <a:t>Where it goes 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67512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73152" cy="86868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6217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2F5FA"/>
                </a:solidFill>
                <a:latin typeface="Segoe UI Semibold"/>
              </a:rPr>
              <a:t>Liveness detection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Blink challenge defeats photo replay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52927"/>
            <a:ext cx="667512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52927"/>
            <a:ext cx="73152" cy="8686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7"/>
            <a:ext cx="6217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2F5FA"/>
                </a:solidFill>
                <a:latin typeface="Segoe UI Semibold"/>
              </a:rPr>
              <a:t>Daugman segmentation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Greatly improves FAR / FRR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31335"/>
            <a:ext cx="667512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831335"/>
            <a:ext cx="73152" cy="86868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31335"/>
            <a:ext cx="6217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2F5FA"/>
                </a:solidFill>
                <a:latin typeface="Segoe UI Semibold"/>
              </a:rPr>
              <a:t>CNN embeddings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Production-grade matching via Rekognition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9743"/>
            <a:ext cx="6675120" cy="86868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809743"/>
            <a:ext cx="73152" cy="868680"/>
          </a:xfrm>
          <a:prstGeom prst="roundRect">
            <a:avLst/>
          </a:prstGeom>
          <a:solidFill>
            <a:srgbClr val="FFC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9743"/>
            <a:ext cx="6217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2F5FA"/>
                </a:solidFill>
                <a:latin typeface="Segoe UI Semibold"/>
              </a:rPr>
              <a:t>Multi-factor (iris + PIN)</a:t>
            </a:r>
          </a:p>
          <a:p>
            <a:pPr algn="l"/>
            <a:r>
              <a:rPr sz="1250" b="0">
                <a:solidFill>
                  <a:srgbClr val="9AA6BF"/>
                </a:solidFill>
                <a:latin typeface="Segoe UI"/>
              </a:rPr>
              <a:t>Higher security for sensitive 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194560"/>
            <a:ext cx="3931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2F5FA"/>
                </a:solidFill>
                <a:latin typeface="Segoe UI Semibold"/>
              </a:rPr>
              <a:t>Thank you.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5D0BA"/>
                </a:solidFill>
                <a:latin typeface="Segoe UI"/>
              </a:rPr>
              <a:t>Iris Biometric Access Control</a:t>
            </a:r>
          </a:p>
          <a:p>
            <a:pPr algn="l"/>
            <a:r>
              <a:rPr sz="1400" b="0">
                <a:solidFill>
                  <a:srgbClr val="9AA6BF"/>
                </a:solidFill>
                <a:latin typeface="Consolas"/>
              </a:rPr>
              <a:t>github.com/ajjajay/iot_EL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